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FBEDE-B0E5-4839-AE07-CAF4539E80D0}" v="1" dt="2026-07-18T11:54:11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esh Singh" userId="ad35f64f6b803746" providerId="LiveId" clId="{B66A6846-CFB5-46C5-B777-0139E0C3EC80}"/>
    <pc:docChg chg="custSel modSld">
      <pc:chgData name="Mukesh Singh" userId="ad35f64f6b803746" providerId="LiveId" clId="{B66A6846-CFB5-46C5-B777-0139E0C3EC80}" dt="2026-07-18T11:56:58.718" v="50" actId="20577"/>
      <pc:docMkLst>
        <pc:docMk/>
      </pc:docMkLst>
      <pc:sldChg chg="addSp modSp mod">
        <pc:chgData name="Mukesh Singh" userId="ad35f64f6b803746" providerId="LiveId" clId="{B66A6846-CFB5-46C5-B777-0139E0C3EC80}" dt="2026-07-18T11:56:58.718" v="50" actId="20577"/>
        <pc:sldMkLst>
          <pc:docMk/>
          <pc:sldMk cId="0" sldId="267"/>
        </pc:sldMkLst>
        <pc:spChg chg="mod">
          <ac:chgData name="Mukesh Singh" userId="ad35f64f6b803746" providerId="LiveId" clId="{B66A6846-CFB5-46C5-B777-0139E0C3EC80}" dt="2026-07-18T11:54:52.090" v="5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Mukesh Singh" userId="ad35f64f6b803746" providerId="LiveId" clId="{B66A6846-CFB5-46C5-B777-0139E0C3EC80}" dt="2026-07-18T11:54:11.088" v="4"/>
          <ac:spMkLst>
            <pc:docMk/>
            <pc:sldMk cId="0" sldId="267"/>
            <ac:spMk id="8" creationId="{00000000-0000-0000-0000-000000000000}"/>
          </ac:spMkLst>
        </pc:spChg>
        <pc:spChg chg="add mod">
          <ac:chgData name="Mukesh Singh" userId="ad35f64f6b803746" providerId="LiveId" clId="{B66A6846-CFB5-46C5-B777-0139E0C3EC80}" dt="2026-07-18T11:56:58.718" v="50" actId="20577"/>
          <ac:spMkLst>
            <pc:docMk/>
            <pc:sldMk cId="0" sldId="267"/>
            <ac:spMk id="10" creationId="{F7C05595-3404-397F-A9E8-5467574639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40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A227"/>
                </a:solidFill>
              </a:rPr>
              <a:t>INDIAN EQUITIES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Direction Predictor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0DA"/>
                </a:solidFill>
              </a:rPr>
              <a:t>A reproducible ML pipeline for 5 NSE large-caps: data → features → models →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877F"/>
                </a:solidFill>
              </a:rPr>
              <a:t>RELIANCE.NS   ·   TCS.NS   ·   HDFCBANK.NS   ·   INFY.NS   ·   ICICIBANK.NS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1"/>
                </a:solidFill>
              </a:rPr>
              <a:t>Capstone Presentation  •  Presented to Ravi Agarwal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77F"/>
                </a:solidFill>
              </a:rPr>
              <a:t>01 —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Can technical indicators predict tomorrow's move?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5C"/>
                </a:solidFill>
              </a:rPr>
              <a:t>Investors constantly ask: will this stock go up or down tomorrow?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5C"/>
                </a:solidFill>
              </a:rPr>
              <a:t>We frame that as a supervised binary classification problem for 5 Indian large-cap stocks, using only historical price/volume data.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49440" y="1463040"/>
            <a:ext cx="4754880" cy="73152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Build  </a:t>
            </a:r>
            <a:r>
              <a:rPr lang="en-US" sz="1400" dirty="0">
                <a:solidFill>
                  <a:srgbClr val="44505C"/>
                </a:solidFill>
              </a:rPr>
              <a:t>a fully reproducible, single-command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49440" y="2377440"/>
            <a:ext cx="4754880" cy="73152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Compare  </a:t>
            </a:r>
            <a:r>
              <a:rPr lang="en-US" sz="1400" dirty="0">
                <a:solidFill>
                  <a:srgbClr val="44505C"/>
                </a:solidFill>
              </a:rPr>
              <a:t>3 ML models with sound time-series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3291840"/>
            <a:ext cx="4754880" cy="73152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Report  </a:t>
            </a:r>
            <a:r>
              <a:rPr lang="en-US" sz="1400" dirty="0">
                <a:solidFill>
                  <a:srgbClr val="44505C"/>
                </a:solidFill>
              </a:rPr>
              <a:t>honestly on what does &amp; doesn't 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</a:rPr>
              <a:t>Indian Equities Analytics &amp; Direction Predictor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77F"/>
                </a:solidFill>
              </a:rPr>
              <a:t>02 —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One command, five stages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084832" cy="1463040"/>
          </a:xfrm>
          <a:prstGeom prst="roundRect">
            <a:avLst>
              <a:gd name="adj" fmla="val 7500"/>
            </a:avLst>
          </a:prstGeom>
          <a:solidFill>
            <a:srgbClr val="1287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Ingestion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24912" y="2377440"/>
            <a:ext cx="256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80944" y="2377440"/>
            <a:ext cx="2084832" cy="1463040"/>
          </a:xfrm>
          <a:prstGeom prst="roundRect">
            <a:avLst>
              <a:gd name="adj" fmla="val 7500"/>
            </a:avLst>
          </a:prstGeom>
          <a:solidFill>
            <a:srgbClr val="12877F"/>
          </a:solidFill>
          <a:ln/>
        </p:spPr>
      </p:sp>
      <p:sp>
        <p:nvSpPr>
          <p:cNvPr id="8" name="Text 6"/>
          <p:cNvSpPr/>
          <p:nvPr/>
        </p:nvSpPr>
        <p:spPr>
          <a:xfrm>
            <a:off x="2980944" y="237744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65776" y="2377440"/>
            <a:ext cx="256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321808" y="2377440"/>
            <a:ext cx="2084832" cy="1463040"/>
          </a:xfrm>
          <a:prstGeom prst="roundRect">
            <a:avLst>
              <a:gd name="adj" fmla="val 75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321808" y="237744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2377440"/>
            <a:ext cx="256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62672" y="2377440"/>
            <a:ext cx="2084832" cy="1463040"/>
          </a:xfrm>
          <a:prstGeom prst="roundRect">
            <a:avLst>
              <a:gd name="adj" fmla="val 7500"/>
            </a:avLst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662672" y="237744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47504" y="2377440"/>
            <a:ext cx="256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003536" y="2377440"/>
            <a:ext cx="2084832" cy="1463040"/>
          </a:xfrm>
          <a:prstGeom prst="roundRect">
            <a:avLst>
              <a:gd name="adj" fmla="val 7500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03536" y="237744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Interactive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src/data.py → src/features.py → src/model.py → models/best_model.joblib → app.py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C"/>
                </a:solidFill>
              </a:rPr>
              <a:t>Reproduce everything with: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78992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run_pipeline.py  &amp;&amp;  streamlit run app.py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</a:rPr>
              <a:t>Indian Equities Analytics &amp; Direction Predictor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77F"/>
                </a:solidFill>
              </a:rPr>
              <a:t>03 —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5 years of OHLCV across 5 sectors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675120" cy="2773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Sector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RELIANCE.NS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Reliance Industries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Energy / Conglomerate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TCS.NS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Tata Consultancy Services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HDFCBANK.NS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HDFC Bank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Banking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INFY.NS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Infosys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ICICIBANK.NS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ICICI Bank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Banking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7635240" y="1600200"/>
            <a:ext cx="4023360" cy="292608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77800" tIns="177800" rIns="177800" bIns="17780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44505C"/>
                </a:solidFill>
              </a:rPr>
              <a:t>Source: Yahoo Finance (yfinance), 5 years daily OHLCV.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44505C"/>
                </a:solidFill>
              </a:rPr>
              <a:t>Offline-safe: falls back to a deterministic synthetic generator when yfinance/internet is unavailable — the pipeline still runs end-to-end and reproduces every result in this deck.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</a:rPr>
              <a:t>Indian Equities Analytics &amp; Direction Predictor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77F"/>
                </a:solidFill>
              </a:rPr>
              <a:t>04 — EDA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Price performance &amp; volatility</a:t>
            </a:r>
            <a:endParaRPr lang="en-US" sz="2800" dirty="0"/>
          </a:p>
        </p:txBody>
      </p:sp>
      <p:pic>
        <p:nvPicPr>
          <p:cNvPr id="4" name="Image 0" descr="/home/claude/capstone/reports/fig_price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669280" cy="2578608"/>
          </a:xfrm>
          <a:prstGeom prst="rect">
            <a:avLst/>
          </a:prstGeom>
        </p:spPr>
      </p:pic>
      <p:pic>
        <p:nvPicPr>
          <p:cNvPr id="5" name="Image 1" descr="/home/claude/capstone/reports/fig_rolling_v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5669280" cy="2578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1605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05C"/>
                </a:solidFill>
              </a:rPr>
              <a:t>All 5 stocks show the fat-tailed, roughly zero-mean daily returns expected of liquid large-caps. Volatility clusters around known macro/earnings events rather than trending steadily.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</a:rPr>
              <a:t>Indian Equities Analytics &amp; Direction Predictor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77F"/>
                </a:solidFill>
              </a:rPr>
              <a:t>04 — EDA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Cross-stock return correlation</a:t>
            </a:r>
            <a:endParaRPr lang="en-US" sz="2800" dirty="0"/>
          </a:p>
        </p:txBody>
      </p:sp>
      <p:pic>
        <p:nvPicPr>
          <p:cNvPr id="4" name="Image 0" descr="/home/claude/capstone/reports/fig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71600"/>
            <a:ext cx="411480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7432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4505C"/>
                </a:solidFill>
              </a:rPr>
              <a:t>Correlation is informative context for portfolio construction, but each stock's direction model is trained independently — no cross-stock features are used, avoiding subtle leakage.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412480" y="2743200"/>
            <a:ext cx="320040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4505C"/>
                </a:solidFill>
              </a:rPr>
              <a:t>Class balance check: ~48-54% up-days per stock — close to balanced, so accuracy near 50% is the honest baseline to beat.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</a:rPr>
              <a:t>Indian Equities Analytics &amp; Direction Predictor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77F"/>
                </a:solidFill>
              </a:rPr>
              <a:t>05 —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10 technical indicators, no look-ahead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2103120" cy="566928"/>
          </a:xfrm>
          <a:prstGeom prst="rect">
            <a:avLst/>
          </a:prstGeom>
          <a:solidFill>
            <a:srgbClr val="12877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Momentum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80360" y="1554480"/>
            <a:ext cx="8595360" cy="56692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return_1d, log_return_1d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67712"/>
            <a:ext cx="2103120" cy="566928"/>
          </a:xfrm>
          <a:prstGeom prst="rect">
            <a:avLst/>
          </a:prstGeom>
          <a:solidFill>
            <a:srgbClr val="12877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2267712"/>
            <a:ext cx="8595360" cy="56692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sma_10_ratio, sma_50_ratio, ema_20_ratio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80944"/>
            <a:ext cx="2103120" cy="566928"/>
          </a:xfrm>
          <a:prstGeom prst="rect">
            <a:avLst/>
          </a:prstGeom>
          <a:solidFill>
            <a:srgbClr val="12877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Oscillators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2980944"/>
            <a:ext cx="8595360" cy="56692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rsi_14, macd_hist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94176"/>
            <a:ext cx="2103120" cy="566928"/>
          </a:xfrm>
          <a:prstGeom prst="rect">
            <a:avLst/>
          </a:prstGeom>
          <a:solidFill>
            <a:srgbClr val="12877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Volatility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3694176"/>
            <a:ext cx="8595360" cy="56692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bb_width, volatility_10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407408"/>
            <a:ext cx="2103120" cy="566928"/>
          </a:xfrm>
          <a:prstGeom prst="rect">
            <a:avLst/>
          </a:prstGeom>
          <a:solidFill>
            <a:srgbClr val="12877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Volume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4407408"/>
            <a:ext cx="8595360" cy="56692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volume_change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577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1F3A"/>
                </a:solidFill>
              </a:rPr>
              <a:t>Target: 1 if next day's close &gt; today's close, else 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</a:rPr>
              <a:t>Indian Equities Analytics &amp; Direction Predictor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77F"/>
                </a:solidFill>
              </a:rPr>
              <a:t>06 —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3 models, chronological cross-validation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Logistic 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505C"/>
                </a:solidFill>
              </a:rPr>
              <a:t>Linear baseline, scaled features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5087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1488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505C"/>
                </a:solidFill>
              </a:rPr>
              <a:t>300 trees, depth-limited, balanced classes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5087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Gradient Boosting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21488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200 shallow trees — best performer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10789920" cy="77724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52400" tIns="152400" rIns="152400" bIns="15240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44505C"/>
                </a:solidFill>
              </a:rPr>
              <a:t>TimeSeriesSplit (5 folds, chronological, no shuffling) — every fold trains only on the past and tests on the future, avoiding look-ahead leakage that a random K-fold split would introduce on time series.</a:t>
            </a:r>
            <a:endParaRPr lang="en-US" sz="1400" dirty="0"/>
          </a:p>
        </p:txBody>
      </p:sp>
      <p:pic>
        <p:nvPicPr>
          <p:cNvPr id="14" name="Image 0" descr="/home/claude/capstone/reports/fig_fold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4434840"/>
            <a:ext cx="7315200" cy="21031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</a:rPr>
              <a:t>Indian Equities Analytics &amp; Direction Predictor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77F"/>
                </a:solidFill>
              </a:rPr>
              <a:t>07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Gradient Boosting selected as best model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5394960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0.507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0.524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0.539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0.531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0.501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0.517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0.531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0.523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Gradient Boosting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0.507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0.520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0.610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0.561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31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505C"/>
                </a:solidFill>
              </a:rPr>
              <a:t>Baseline: a coin flip scores 0.500 accuracy.</a:t>
            </a:r>
            <a:endParaRPr lang="en-US" sz="1200" dirty="0"/>
          </a:p>
        </p:txBody>
      </p:sp>
      <p:pic>
        <p:nvPicPr>
          <p:cNvPr id="6" name="Image 0" descr="/home/claude/capstone/reports/fig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577840" cy="3108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</a:rPr>
              <a:t>Indian Equities Analytics &amp; Direction Predictor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77F"/>
                </a:solidFill>
              </a:rPr>
              <a:t>08 — DASHBOARD &amp; 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What drives the prediction?</a:t>
            </a:r>
            <a:endParaRPr lang="en-US" sz="2800" dirty="0"/>
          </a:p>
        </p:txBody>
      </p:sp>
      <p:pic>
        <p:nvPicPr>
          <p:cNvPr id="4" name="Image 0" descr="/home/claude/capstone/reports/fig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5778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463040"/>
            <a:ext cx="5120640" cy="347472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77800" tIns="177800" rIns="177800" bIns="17780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44505C"/>
                </a:solidFill>
              </a:rPr>
              <a:t>Streamlit dashboard (app.py):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44505C"/>
                </a:solidFill>
              </a:rPr>
              <a:t>•  Pick any of the 5 stocks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44505C"/>
                </a:solidFill>
              </a:rPr>
              <a:t>•  Candlestick price chart + SMA/EMA overlays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44505C"/>
                </a:solidFill>
              </a:rPr>
              <a:t>•  RSI / MACD / Bollinger-width panels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44505C"/>
                </a:solidFill>
              </a:rPr>
              <a:t>•  Next-day prediction with probability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44505C"/>
                </a:solidFill>
              </a:rPr>
              <a:t>•  Historical CV accuracy table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</a:rPr>
              <a:t>Indian Equities Analytics &amp; Direction Predictor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77F"/>
                </a:solidFill>
              </a:rPr>
              <a:t>09 — LIMITATIONS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Honest read of the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5C"/>
                </a:solidFill>
              </a:rPr>
              <a:t>•  Accuracy near the random-walk baseline — expected for 1-day direction on liquid large-caps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5C"/>
                </a:solidFill>
              </a:rPr>
              <a:t>•  No fundamental, macro, or sentiment features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96265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5C"/>
                </a:solidFill>
              </a:rPr>
              <a:t>•  Binary framing loses move magnitude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52958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5C"/>
                </a:solidFill>
              </a:rPr>
              <a:t>•  No transaction-cost-aware backtest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877F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8288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5C"/>
                </a:solidFill>
              </a:rPr>
              <a:t>•  Add sentiment, macro (Nifty, USD/INR), and fundamental data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239572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5C"/>
                </a:solidFill>
              </a:rPr>
              <a:t>•  Predict probability/confidence, not just a hard label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296265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5C"/>
                </a:solidFill>
              </a:rPr>
              <a:t>•  Multi-day horizons + walk-forward, cost-aware backtest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352958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5C"/>
                </a:solidFill>
              </a:rPr>
              <a:t>•  Compare against sequence models (LSTM/Transformer)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</a:rPr>
              <a:t>Indian Equities Analytics &amp; Direction Predictor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CF1"/>
                </a:solidFill>
              </a:rPr>
              <a:t>–  A clean, reproducible pipeline matters as much as the model itself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395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CF1"/>
                </a:solidFill>
              </a:rPr>
              <a:t>–  TimeSeriesSplit is non-negotiable for financial ML — random K-fold silently leaks the future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05409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CF1"/>
                </a:solidFill>
              </a:rPr>
              <a:t>–  Near-50% accuracy is a real, publishable finding — not a failure to hide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7124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CF1"/>
                </a:solidFill>
              </a:rPr>
              <a:t>–  Next step: richer features (sentiment/macro) before chasing fancier models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 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github.com/&lt;https://github.com/mohitsingh200/Ollosoft-ds-internship-mohit-&gt;/indian-equities-capstone</a:t>
            </a:r>
            <a:endParaRPr lang="en-US" sz="12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7C05595-3404-397F-A9E8-5467574639B1}"/>
              </a:ext>
            </a:extLst>
          </p:cNvPr>
          <p:cNvSpPr/>
          <p:nvPr/>
        </p:nvSpPr>
        <p:spPr>
          <a:xfrm>
            <a:off x="10418618" y="6212376"/>
            <a:ext cx="1608512" cy="548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Mohit Singh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854</Words>
  <Application>Microsoft Office PowerPoint</Application>
  <PresentationFormat>Widescreen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Mukesh Singh</cp:lastModifiedBy>
  <cp:revision>1</cp:revision>
  <dcterms:created xsi:type="dcterms:W3CDTF">2026-07-18T09:07:51Z</dcterms:created>
  <dcterms:modified xsi:type="dcterms:W3CDTF">2026-07-18T11:56:58Z</dcterms:modified>
</cp:coreProperties>
</file>